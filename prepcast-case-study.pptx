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73" r:id="rId6"/>
    <p:sldId id="265" r:id="rId7"/>
    <p:sldId id="263" r:id="rId8"/>
    <p:sldId id="257" r:id="rId9"/>
    <p:sldId id="261" r:id="rId10"/>
    <p:sldId id="266" r:id="rId11"/>
    <p:sldId id="267" r:id="rId12"/>
    <p:sldId id="264" r:id="rId13"/>
    <p:sldId id="271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6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48" autoAdjust="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46B78"/>
            </a:solidFill>
          </c:spPr>
          <c:invertIfNegative val="1"/>
          <c:cat>
            <c:strRef>
              <c:f>Sheet1!$A$2:$A$21</c:f>
              <c:strCache>
                <c:ptCount val="20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  <c:pt idx="5">
                  <c:v>0.25</c:v>
                </c:pt>
                <c:pt idx="6">
                  <c:v>0.30</c:v>
                </c:pt>
                <c:pt idx="7">
                  <c:v>0.35</c:v>
                </c:pt>
                <c:pt idx="8">
                  <c:v>0.40</c:v>
                </c:pt>
                <c:pt idx="9">
                  <c:v>0.45</c:v>
                </c:pt>
                <c:pt idx="10">
                  <c:v>0.50</c:v>
                </c:pt>
                <c:pt idx="11">
                  <c:v>0.55</c:v>
                </c:pt>
                <c:pt idx="12">
                  <c:v>0.60</c:v>
                </c:pt>
                <c:pt idx="13">
                  <c:v>0.65</c:v>
                </c:pt>
                <c:pt idx="14">
                  <c:v>0.70</c:v>
                </c:pt>
                <c:pt idx="15">
                  <c:v>0.75</c:v>
                </c:pt>
                <c:pt idx="16">
                  <c:v>0.80</c:v>
                </c:pt>
                <c:pt idx="17">
                  <c:v>0.85</c:v>
                </c:pt>
                <c:pt idx="18">
                  <c:v>0.90</c:v>
                </c:pt>
                <c:pt idx="19">
                  <c:v>0.95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2150</c:v>
                </c:pt>
                <c:pt idx="1">
                  <c:v>3</c:v>
                </c:pt>
                <c:pt idx="2">
                  <c:v>0</c:v>
                </c:pt>
                <c:pt idx="3">
                  <c:v>1755</c:v>
                </c:pt>
                <c:pt idx="4">
                  <c:v>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946</c:v>
                </c:pt>
                <c:pt idx="10">
                  <c:v>11</c:v>
                </c:pt>
                <c:pt idx="11">
                  <c:v>140</c:v>
                </c:pt>
                <c:pt idx="12">
                  <c:v>141</c:v>
                </c:pt>
                <c:pt idx="13">
                  <c:v>114</c:v>
                </c:pt>
                <c:pt idx="14">
                  <c:v>88</c:v>
                </c:pt>
                <c:pt idx="15">
                  <c:v>296</c:v>
                </c:pt>
                <c:pt idx="16">
                  <c:v>33</c:v>
                </c:pt>
                <c:pt idx="17">
                  <c:v>25</c:v>
                </c:pt>
                <c:pt idx="18">
                  <c:v>19</c:v>
                </c:pt>
                <c:pt idx="19">
                  <c:v>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01-4BA6-96C9-0F9CF44E96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DDE2E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 from paid</c:v>
                </c:pt>
              </c:strCache>
            </c:strRef>
          </c:tx>
          <c:spPr>
            <a:solidFill>
              <a:srgbClr val="4EA9B4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Never watched
a second</c:v>
                </c:pt>
                <c:pt idx="1">
                  <c:v>Abandoned</c:v>
                </c:pt>
                <c:pt idx="2">
                  <c:v>Sampled</c:v>
                </c:pt>
                <c:pt idx="3">
                  <c:v>Engaged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24.1</c:v>
                </c:pt>
                <c:pt idx="1">
                  <c:v>25.5</c:v>
                </c:pt>
                <c:pt idx="2">
                  <c:v>23</c:v>
                </c:pt>
                <c:pt idx="3">
                  <c:v>25.3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0B4-40D0-ADAC-8CD679A8B3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A949E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"/>
        </c:scaling>
        <c:delete val="0"/>
        <c:axPos val="l"/>
        <c:majorGridlines>
          <c:spPr>
            <a:ln>
              <a:solidFill>
                <a:srgbClr val="2A323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8A949E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77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questions in the title, and I answer both. The second answer is a null result - say so early rather than building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16346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prompt warns about someone hitting play and walking away. That failure mode is undetectable in this telemetry, and I would rather say so than pretend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Volunteer the caveat: clusters this tight are a synthetic-data artefact. What transfers is the method - cut at the widest natural separation - not the number 0.30.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the caveat: my test is not time-ordered - it does not verify engagement preceded churn. The proper test is a cohort: engagement in window W against retention at W+30.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the self-critique: I first put four models in an intermediate layer. Three did not belong - they were shared assets filed as private plumbing. The fourth mixed fact with opinion and was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grain is one plain-English sentence in the YAML, and every one is enforced by a uniqueness test - so the sentence and the test have to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grain is one plain-English sentence in the YAML, and every one is enforced by a uniqueness test - so the sentence and the test have to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70714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prompt explicitly asks what I would do next. Naming what I cut, and why, is part of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prompt asks specifically where the tool was wrong and how I caught it. The third column is the honest answer and the most useful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96596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EA9B4"/>
                </a:solidFill>
                <a:latin typeface="Calibri"/>
              </a:rPr>
              <a:t>PREPCAST · SENIOR ANALYTICS ENGINEER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1460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What engaged viewership is,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10128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4EA9B4"/>
                </a:solidFill>
                <a:latin typeface="Cambria"/>
              </a:rPr>
              <a:t>and what it tells us about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 dirty="0">
                <a:solidFill>
                  <a:srgbClr val="8A949E"/>
                </a:solidFill>
                <a:latin typeface="Calibri"/>
              </a:rPr>
              <a:t>A dimensional model over four raw extracts — 216,045 playback events, 8,014 subscription changes — built in </a:t>
            </a:r>
            <a:r>
              <a:rPr sz="1500" b="0" i="0" dirty="0" err="1">
                <a:solidFill>
                  <a:srgbClr val="8A949E"/>
                </a:solidFill>
                <a:latin typeface="Calibri"/>
              </a:rPr>
              <a:t>dbt</a:t>
            </a:r>
            <a:r>
              <a:rPr sz="1500" b="0" i="0" dirty="0">
                <a:solidFill>
                  <a:srgbClr val="8A949E"/>
                </a:solidFill>
                <a:latin typeface="Calibri"/>
              </a:rPr>
              <a:t> on </a:t>
            </a:r>
            <a:r>
              <a:rPr sz="1500" b="0" i="0" dirty="0" err="1">
                <a:solidFill>
                  <a:srgbClr val="8A949E"/>
                </a:solidFill>
                <a:latin typeface="Calibri"/>
              </a:rPr>
              <a:t>DuckDB</a:t>
            </a:r>
            <a:r>
              <a:rPr sz="1500" b="0" i="0" dirty="0">
                <a:solidFill>
                  <a:srgbClr val="8A949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CHALLENGE 1 · 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4181C"/>
                </a:solidFill>
                <a:latin typeface="Cambria"/>
              </a:rPr>
              <a:t>The data fights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16736"/>
            <a:ext cx="97228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46E"/>
                </a:solidFill>
                <a:latin typeface="Calibri"/>
              </a:rPr>
              <a:t>Eleven issues found across the four extracts. Six that change a number: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14600"/>
            <a:ext cx="3401568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752344"/>
            <a:ext cx="28346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146B78"/>
                </a:solidFill>
                <a:latin typeface="Calibri"/>
              </a:rPr>
              <a:t>3 timestamp encodings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7296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ISO-Z 54.9% · no-timezone 25.5% · epoch 19.7%.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Also in subscriptions — 1,225 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2514600"/>
            <a:ext cx="3401568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2752344"/>
            <a:ext cx="28346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6B78"/>
                </a:solidFill>
                <a:latin typeface="Calibri"/>
              </a:rPr>
              <a:t>mrr_amount is misnamed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317296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Annual plans carry 79.99 — a yearly price in a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column called monthly. Sums overstate ~12×.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7575" y="2514600"/>
            <a:ext cx="3401568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6" y="2752344"/>
            <a:ext cx="28346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146B78"/>
                </a:solidFill>
                <a:latin typeface="Calibri"/>
              </a:rPr>
              <a:t>3 currencies, </a:t>
            </a:r>
            <a:r>
              <a:rPr lang="en-US" sz="1500" b="1" dirty="0" smtClean="0">
                <a:solidFill>
                  <a:srgbClr val="146B78"/>
                </a:solidFill>
                <a:latin typeface="Calibri"/>
              </a:rPr>
              <a:t>no normalization</a:t>
            </a:r>
            <a:endParaRPr sz="1500" b="1" i="0" dirty="0">
              <a:solidFill>
                <a:srgbClr val="146B7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11896" y="3172968"/>
            <a:ext cx="2880360" cy="2035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 dirty="0">
                <a:solidFill>
                  <a:srgbClr val="5A646E"/>
                </a:solidFill>
                <a:latin typeface="Calibri"/>
              </a:rPr>
              <a:t>USD 7,935 · GBP 40 · EUR </a:t>
            </a:r>
            <a:r>
              <a:rPr sz="1150" b="0" i="0" dirty="0" smtClean="0">
                <a:solidFill>
                  <a:srgbClr val="5A646E"/>
                </a:solidFill>
                <a:latin typeface="Calibri"/>
              </a:rPr>
              <a:t>39</a:t>
            </a:r>
            <a:endParaRPr sz="115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4389120"/>
            <a:ext cx="3401568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626864"/>
            <a:ext cx="28346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>
                <a:solidFill>
                  <a:srgbClr val="146B78"/>
                </a:solidFill>
                <a:latin typeface="Calibri"/>
              </a:rPr>
              <a:t>12 </a:t>
            </a:r>
            <a:r>
              <a:rPr sz="1500" b="1" i="0" dirty="0" err="1">
                <a:solidFill>
                  <a:srgbClr val="146B78"/>
                </a:solidFill>
                <a:latin typeface="Calibri"/>
              </a:rPr>
              <a:t>asset_ids</a:t>
            </a:r>
            <a:r>
              <a:rPr sz="1500" b="1" i="0" dirty="0">
                <a:solidFill>
                  <a:srgbClr val="146B78"/>
                </a:solidFill>
                <a:latin typeface="Calibri"/>
              </a:rPr>
              <a:t>, 24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4748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Each is a game and its replay.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Joining fans 216,045 rows out to 218,782.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4389120"/>
            <a:ext cx="3401568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7" y="462686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6B78"/>
                </a:solidFill>
                <a:latin typeface="Calibri"/>
              </a:rPr>
              <a:t>20 impossible runtimes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504748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−600, −1 and 0 seconds — the denominator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of every completion metric.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7575" y="4389120"/>
            <a:ext cx="3401568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1896" y="462686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6B78"/>
                </a:solidFill>
                <a:latin typeface="Calibri"/>
              </a:rPr>
              <a:t>600 duplicate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047488"/>
            <a:ext cx="2880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Byte-identical, so safe to drop — and they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fabricated 29 phantom grain violations.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CHALLENGE 1 · THE WORST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4181C"/>
                </a:solidFill>
                <a:latin typeface="Cambria"/>
              </a:rPr>
              <a:t>One column, three encodings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649224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4181C"/>
                </a:solidFill>
                <a:latin typeface="Calibri"/>
              </a:rPr>
              <a:t>ISO-8601 with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395728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5A646E"/>
                </a:solidFill>
                <a:latin typeface="Calibri"/>
              </a:rPr>
              <a:t>118,592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9572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5A646E"/>
                </a:solidFill>
                <a:latin typeface="Calibri"/>
              </a:rPr>
              <a:t>54.9%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9E2B2B"/>
                </a:solidFill>
                <a:latin typeface="Calibri"/>
              </a:rPr>
              <a:t>ISO-8601, no timezone marker at 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92608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5A646E"/>
                </a:solidFill>
                <a:latin typeface="Calibri"/>
              </a:rPr>
              <a:t>54,979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5A646E"/>
                </a:solidFill>
                <a:latin typeface="Calibri"/>
              </a:rPr>
              <a:t>25.5%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4181C"/>
                </a:solidFill>
                <a:latin typeface="Calibri"/>
              </a:rPr>
              <a:t>Unix epoch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456432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5A646E"/>
                </a:solidFill>
                <a:latin typeface="Calibri"/>
              </a:rPr>
              <a:t>42,474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5643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5A646E"/>
                </a:solidFill>
                <a:latin typeface="Calibri"/>
              </a:rPr>
              <a:t>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148840"/>
            <a:ext cx="4434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14181C"/>
                </a:solidFill>
                <a:latin typeface="Calibri"/>
              </a:rPr>
              <a:t>The middle row has no timezone. </a:t>
            </a:r>
            <a:r>
              <a:rPr sz="1400" b="0">
                <a:solidFill>
                  <a:srgbClr val="5A646E"/>
                </a:solidFill>
                <a:latin typeface="Calibri"/>
              </a:rPr>
              <a:t>Calling it UTC is an assumption, not a reading — and it is a live question for the source team.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46B78"/>
                </a:solidFill>
                <a:latin typeface="Calibri"/>
              </a:rPr>
              <a:t>THE HYPOTHESIS THAT FAILED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14181C"/>
                </a:solidFill>
                <a:latin typeface="Calibri"/>
              </a:rPr>
              <a:t>Not correlated with app_version or device_type</a:t>
            </a:r>
            <a:r>
              <a:rPr sz="1350" b="0">
                <a:solidFill>
                  <a:srgbClr val="5A646E"/>
                </a:solidFill>
                <a:latin typeface="Calibri"/>
              </a:rPr>
              <a:t> — all three spread evenly across all six of each. It is not one bad client build, so there is nothing to go and fix.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4EA9B4"/>
                </a:solidFill>
                <a:latin typeface="Calibri"/>
              </a:rPr>
              <a:t>CHALLENGE 2 · THE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Fan-out,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16736"/>
            <a:ext cx="97228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8A949E"/>
                </a:solidFill>
                <a:latin typeface="Calibri"/>
              </a:rPr>
              <a:t>Joining playback events to the asset catalogue on asset_id: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216,045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021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rows before the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7889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9E2B2B"/>
                </a:solidFill>
                <a:latin typeface="Cambria"/>
              </a:rPr>
              <a:t>218,782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50215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after a LEFT JOIN
(inflated by 12 duplicate ids)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788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9E2B2B"/>
                </a:solidFill>
                <a:latin typeface="Cambria"/>
              </a:rPr>
              <a:t>214,286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50215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after an INNER JOIN
(orphans silently dropped)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108173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8A949E"/>
                </a:solidFill>
                <a:latin typeface="Calibri"/>
              </a:rPr>
              <a:t>Both are wrong, in opposite directions. My own first profiling query hit this — it reported more child rows than the child table has.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CHALLENGE 2 ·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606040"/>
            <a:ext cx="3200400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231"/>
            <a:ext cx="12192000" cy="549553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954512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8A949E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0974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CHALLENGE 2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4181C"/>
                </a:solidFill>
                <a:latin typeface="Cambria"/>
              </a:rPr>
              <a:t>143 tests — and the three that earned their keep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16736"/>
            <a:ext cx="97228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46E"/>
                </a:solidFill>
                <a:latin typeface="Calibri"/>
              </a:rPr>
              <a:t>None of these threw an error. Each produced a plausible number.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78638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737243"/>
            <a:ext cx="36576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 dirty="0">
                <a:solidFill>
                  <a:srgbClr val="9E2B2B"/>
                </a:solidFill>
                <a:latin typeface="Calibri"/>
              </a:rPr>
              <a:t>38 </a:t>
            </a:r>
            <a:r>
              <a:rPr sz="1450" b="1" i="0" dirty="0" smtClean="0">
                <a:solidFill>
                  <a:srgbClr val="9E2B2B"/>
                </a:solidFill>
                <a:latin typeface="Calibri"/>
              </a:rPr>
              <a:t>sessions</a:t>
            </a:r>
            <a:r>
              <a:rPr lang="en-US" sz="1450" b="1" i="0" dirty="0" smtClean="0">
                <a:solidFill>
                  <a:srgbClr val="9E2B2B"/>
                </a:solidFill>
                <a:latin typeface="Calibri"/>
              </a:rPr>
              <a:t> had orphaned </a:t>
            </a:r>
            <a:r>
              <a:rPr lang="en-US" sz="1450" b="1" i="0" dirty="0" err="1" smtClean="0">
                <a:solidFill>
                  <a:srgbClr val="9E2B2B"/>
                </a:solidFill>
                <a:latin typeface="Calibri"/>
              </a:rPr>
              <a:t>user_ids</a:t>
            </a:r>
            <a:endParaRPr sz="1450" b="1" i="0" dirty="0">
              <a:solidFill>
                <a:srgbClr val="9E2B2B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023912"/>
            <a:ext cx="7223760" cy="610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 dirty="0">
                <a:solidFill>
                  <a:srgbClr val="5A646E"/>
                </a:solidFill>
                <a:latin typeface="Calibri"/>
              </a:rPr>
              <a:t>A grain test failed on first run. </a:t>
            </a:r>
            <a:r>
              <a:rPr lang="en-US" sz="1150" b="0" i="0" dirty="0" smtClean="0">
                <a:solidFill>
                  <a:srgbClr val="5A646E"/>
                </a:solidFill>
                <a:latin typeface="Calibri"/>
              </a:rPr>
              <a:t>These</a:t>
            </a:r>
            <a:r>
              <a:rPr sz="1150" b="0" i="0" dirty="0" smtClean="0">
                <a:solidFill>
                  <a:srgbClr val="5A646E"/>
                </a:solidFill>
                <a:latin typeface="Calibri"/>
              </a:rPr>
              <a:t> </a:t>
            </a:r>
            <a:r>
              <a:rPr sz="1150" b="0" i="0" dirty="0">
                <a:solidFill>
                  <a:srgbClr val="5A646E"/>
                </a:solidFill>
                <a:latin typeface="Calibri"/>
              </a:rPr>
              <a:t>sessions carry a </a:t>
            </a:r>
            <a:r>
              <a:rPr sz="1150" b="0" i="0" dirty="0" err="1">
                <a:solidFill>
                  <a:srgbClr val="5A646E"/>
                </a:solidFill>
                <a:latin typeface="Calibri"/>
              </a:rPr>
              <a:t>user_id</a:t>
            </a:r>
            <a:r>
              <a:rPr sz="1150" b="0" i="0" dirty="0">
                <a:solidFill>
                  <a:srgbClr val="5A646E"/>
                </a:solidFill>
                <a:latin typeface="Calibri"/>
              </a:rPr>
              <a:t> that is not in the users </a:t>
            </a:r>
            <a:r>
              <a:rPr sz="1150" b="0" i="0" dirty="0" smtClean="0">
                <a:solidFill>
                  <a:srgbClr val="5A646E"/>
                </a:solidFill>
                <a:latin typeface="Calibri"/>
              </a:rPr>
              <a:t>extract</a:t>
            </a:r>
            <a:r>
              <a:rPr lang="en-US" sz="1150" dirty="0" smtClean="0">
                <a:solidFill>
                  <a:srgbClr val="5A646E"/>
                </a:solidFill>
                <a:latin typeface="Calibri"/>
              </a:rPr>
              <a:t>. N</a:t>
            </a:r>
            <a:r>
              <a:rPr sz="1150" b="0" i="0" dirty="0" smtClean="0">
                <a:solidFill>
                  <a:srgbClr val="5A646E"/>
                </a:solidFill>
                <a:latin typeface="Calibri"/>
              </a:rPr>
              <a:t>o</a:t>
            </a:r>
            <a:r>
              <a:rPr lang="en-US" sz="1150" b="0" i="0" dirty="0" smtClean="0">
                <a:solidFill>
                  <a:srgbClr val="5A646E"/>
                </a:solidFill>
                <a:latin typeface="Calibri"/>
              </a:rPr>
              <a:t>t</a:t>
            </a:r>
            <a:r>
              <a:rPr lang="en-US" sz="1150" dirty="0">
                <a:solidFill>
                  <a:srgbClr val="5A646E"/>
                </a:solidFill>
                <a:latin typeface="Calibri"/>
              </a:rPr>
              <a:t> </a:t>
            </a:r>
            <a:r>
              <a:rPr sz="1150" b="0" i="0" dirty="0" smtClean="0">
                <a:solidFill>
                  <a:srgbClr val="5A646E"/>
                </a:solidFill>
                <a:latin typeface="Calibri"/>
              </a:rPr>
              <a:t>null</a:t>
            </a:r>
            <a:r>
              <a:rPr sz="1150" b="0" i="0" dirty="0">
                <a:solidFill>
                  <a:srgbClr val="5A646E"/>
                </a:solidFill>
                <a:latin typeface="Calibri"/>
              </a:rPr>
              <a:t>, so they look </a:t>
            </a:r>
            <a:r>
              <a:rPr sz="1150" b="0" i="0" dirty="0" smtClean="0">
                <a:solidFill>
                  <a:srgbClr val="5A646E"/>
                </a:solidFill>
                <a:latin typeface="Calibri"/>
              </a:rPr>
              <a:t>attributable</a:t>
            </a:r>
            <a:r>
              <a:rPr lang="en-US" sz="1150" b="0" i="0" dirty="0" smtClean="0">
                <a:solidFill>
                  <a:srgbClr val="5A646E"/>
                </a:solidFill>
                <a:latin typeface="Calibri"/>
              </a:rPr>
              <a:t>. </a:t>
            </a:r>
            <a:r>
              <a:rPr lang="en-US" sz="1150" dirty="0" smtClean="0">
                <a:solidFill>
                  <a:srgbClr val="5A646E"/>
                </a:solidFill>
                <a:latin typeface="Calibri"/>
              </a:rPr>
              <a:t>They remain in staging, in case someone outside product wants the data, but are filtered out via inner join in the </a:t>
            </a:r>
            <a:r>
              <a:rPr lang="en-US" sz="1150" dirty="0" err="1" smtClean="0">
                <a:solidFill>
                  <a:srgbClr val="5A646E"/>
                </a:solidFill>
                <a:latin typeface="Calibri"/>
              </a:rPr>
              <a:t>fct_session</a:t>
            </a:r>
            <a:r>
              <a:rPr lang="en-US" sz="1150" dirty="0" smtClean="0">
                <a:solidFill>
                  <a:srgbClr val="5A646E"/>
                </a:solidFill>
                <a:latin typeface="Calibri"/>
              </a:rPr>
              <a:t> mart</a:t>
            </a:r>
            <a:endParaRPr sz="115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3813048"/>
            <a:ext cx="78638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952939"/>
            <a:ext cx="36576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50" b="1" i="0" dirty="0" smtClean="0">
                <a:solidFill>
                  <a:srgbClr val="9E2B2B"/>
                </a:solidFill>
                <a:latin typeface="Calibri"/>
              </a:rPr>
              <a:t>Custom Example: Identical playback events</a:t>
            </a:r>
            <a:endParaRPr sz="1450" b="1" i="0" dirty="0">
              <a:solidFill>
                <a:srgbClr val="9E2B2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4325112"/>
            <a:ext cx="7223760" cy="407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150" b="0" i="0" dirty="0" smtClean="0">
                <a:solidFill>
                  <a:srgbClr val="5A646E"/>
                </a:solidFill>
                <a:latin typeface="Calibri"/>
              </a:rPr>
              <a:t>Confirms that playback events are indeed all identical in their duplication, and therefore that removal of duplicate rows is only removing true duplicates</a:t>
            </a:r>
            <a:endParaRPr sz="115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" y="5020056"/>
            <a:ext cx="78638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202936"/>
            <a:ext cx="36576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50" b="1" i="0" dirty="0" smtClean="0">
                <a:solidFill>
                  <a:srgbClr val="9E2B2B"/>
                </a:solidFill>
                <a:latin typeface="Calibri"/>
              </a:rPr>
              <a:t>Expression: State length</a:t>
            </a:r>
            <a:endParaRPr sz="1450" b="1" i="0" dirty="0">
              <a:solidFill>
                <a:srgbClr val="9E2B2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5532120"/>
            <a:ext cx="7223760" cy="191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150" b="0" i="0" dirty="0" smtClean="0">
                <a:solidFill>
                  <a:srgbClr val="5A646E"/>
                </a:solidFill>
                <a:latin typeface="Calibri"/>
              </a:rPr>
              <a:t>Makes sure states always come in with a two character length to the staging table</a:t>
            </a:r>
            <a:endParaRPr sz="115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61120" y="2606040"/>
            <a:ext cx="3200400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0" y="283464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TEST 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21868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not_null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321868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14181C"/>
                </a:solidFill>
                <a:latin typeface="Calibri"/>
              </a:rPr>
              <a:t>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5844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accepted_values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358444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14181C"/>
                </a:solidFill>
                <a:latin typeface="Calibri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9502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unique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395020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14181C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315968"/>
            <a:ext cx="20116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dirty="0" smtClean="0">
                <a:solidFill>
                  <a:srgbClr val="5A646E"/>
                </a:solidFill>
                <a:latin typeface="Calibri"/>
              </a:rPr>
              <a:t>custom</a:t>
            </a:r>
            <a:endParaRPr sz="12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292840" y="431596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14181C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67715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 dirty="0">
                <a:solidFill>
                  <a:srgbClr val="5A646E"/>
                </a:solidFill>
                <a:latin typeface="Calibri"/>
              </a:rPr>
              <a:t>relationships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4677156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>
                <a:solidFill>
                  <a:srgbClr val="14181C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04291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expression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5042916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 i="0" dirty="0">
                <a:solidFill>
                  <a:srgbClr val="14181C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 dirty="0">
                <a:solidFill>
                  <a:srgbClr val="8A949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CHALLENGE 2 · WHAT I REJECTED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 dirty="0">
                <a:solidFill>
                  <a:srgbClr val="14181C"/>
                </a:solidFill>
                <a:latin typeface="Cambria"/>
              </a:rPr>
              <a:t>The </a:t>
            </a:r>
            <a:r>
              <a:rPr sz="3800" b="1" i="0" dirty="0" smtClean="0">
                <a:solidFill>
                  <a:srgbClr val="14181C"/>
                </a:solidFill>
                <a:latin typeface="Cambria"/>
              </a:rPr>
              <a:t>candidate</a:t>
            </a:r>
            <a:r>
              <a:rPr lang="en-US" sz="3800" b="1" i="0" dirty="0" smtClean="0">
                <a:solidFill>
                  <a:srgbClr val="14181C"/>
                </a:solidFill>
                <a:latin typeface="Cambria"/>
              </a:rPr>
              <a:t>s</a:t>
            </a:r>
            <a:r>
              <a:rPr sz="3800" b="1" i="0" dirty="0" smtClean="0">
                <a:solidFill>
                  <a:srgbClr val="14181C"/>
                </a:solidFill>
                <a:latin typeface="Cambria"/>
              </a:rPr>
              <a:t> </a:t>
            </a:r>
            <a:r>
              <a:rPr sz="3800" b="1" i="0" dirty="0">
                <a:solidFill>
                  <a:srgbClr val="14181C"/>
                </a:solidFill>
                <a:latin typeface="Cambria"/>
              </a:rPr>
              <a:t>that looked best, and </a:t>
            </a:r>
            <a:r>
              <a:rPr sz="3800" b="1" i="0" dirty="0" smtClean="0">
                <a:solidFill>
                  <a:srgbClr val="14181C"/>
                </a:solidFill>
                <a:latin typeface="Cambria"/>
              </a:rPr>
              <a:t>failed</a:t>
            </a:r>
            <a:endParaRPr sz="3800" b="1" i="0" dirty="0">
              <a:solidFill>
                <a:srgbClr val="14181C"/>
              </a:solidFill>
              <a:latin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3058" y="2148840"/>
            <a:ext cx="53492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8818" y="24048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4621F"/>
                </a:solidFill>
                <a:latin typeface="Calibri"/>
              </a:rPr>
              <a:t>PAUSE AS AN ENGAGEMENT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8818" y="2807208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 dirty="0">
                <a:solidFill>
                  <a:srgbClr val="5A646E"/>
                </a:solidFill>
                <a:latin typeface="Calibri"/>
              </a:rPr>
              <a:t>Sessions with a pause complete at 0.46 versus 0.134. Strong evidence of a present, deciding human — a device left running never pauses</a:t>
            </a:r>
            <a:r>
              <a:rPr sz="1350" b="0" i="0" dirty="0" smtClean="0">
                <a:solidFill>
                  <a:srgbClr val="5A646E"/>
                </a:solidFill>
                <a:latin typeface="Calibri"/>
              </a:rPr>
              <a:t>.</a:t>
            </a:r>
            <a:endParaRPr sz="135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8818" y="365759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dirty="0">
                <a:solidFill>
                  <a:srgbClr val="9E2B2B"/>
                </a:solidFill>
                <a:latin typeface="Calibri"/>
              </a:rPr>
              <a:t>EXCEPT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8818" y="3881445"/>
            <a:ext cx="4617720" cy="1356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14181C"/>
                </a:solidFill>
                <a:latin typeface="Calibri"/>
              </a:rPr>
              <a:t>Nothing is paused </a:t>
            </a:r>
            <a:r>
              <a:rPr sz="1250" b="0" dirty="0">
                <a:solidFill>
                  <a:srgbClr val="5A646E"/>
                </a:solidFill>
                <a:latin typeface="Calibri"/>
              </a:rPr>
              <a:t>— the </a:t>
            </a:r>
            <a:r>
              <a:rPr sz="1250" b="0" dirty="0" err="1">
                <a:solidFill>
                  <a:srgbClr val="5A646E"/>
                </a:solidFill>
                <a:latin typeface="Calibri"/>
              </a:rPr>
              <a:t>playhead</a:t>
            </a:r>
            <a:r>
              <a:rPr sz="1250" b="0" dirty="0">
                <a:solidFill>
                  <a:srgbClr val="5A646E"/>
                </a:solidFill>
                <a:latin typeface="Calibri"/>
              </a:rPr>
              <a:t> advances one heartbeat across 99.7% of pauses.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14181C"/>
                </a:solidFill>
                <a:latin typeface="Calibri"/>
              </a:rPr>
              <a:t>Nothing resumes </a:t>
            </a:r>
            <a:r>
              <a:rPr sz="1250" b="0" dirty="0">
                <a:solidFill>
                  <a:srgbClr val="5A646E"/>
                </a:solidFill>
                <a:latin typeface="Calibri"/>
              </a:rPr>
              <a:t>— there is exactly one play event per session.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14181C"/>
                </a:solidFill>
                <a:latin typeface="Calibri"/>
              </a:rPr>
              <a:t>It tracks length </a:t>
            </a:r>
            <a:r>
              <a:rPr sz="1250" b="0" dirty="0">
                <a:solidFill>
                  <a:srgbClr val="5A646E"/>
                </a:solidFill>
                <a:latin typeface="Calibri"/>
              </a:rPr>
              <a:t>— 22.9% of short sessions have a pause, 92.2% of long ones</a:t>
            </a:r>
            <a:r>
              <a:rPr sz="1250" b="0" dirty="0" smtClean="0">
                <a:solidFill>
                  <a:srgbClr val="5A646E"/>
                </a:solidFill>
                <a:latin typeface="Calibri"/>
              </a:rPr>
              <a:t>.</a:t>
            </a:r>
            <a:endParaRPr lang="en-US" sz="1250" b="0" dirty="0" smtClean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52338" y="2148840"/>
            <a:ext cx="5148072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18098" y="24048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46B78"/>
                </a:solidFill>
                <a:latin typeface="Calibri"/>
              </a:rPr>
              <a:t>THE LESSON THAT GENERALISES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8098" y="2807208"/>
            <a:ext cx="4434840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sz="1350" b="0" i="0" dirty="0" smtClean="0">
                <a:solidFill>
                  <a:srgbClr val="5A646E"/>
                </a:solidFill>
                <a:latin typeface="Calibri"/>
              </a:rPr>
              <a:t>Pause</a:t>
            </a:r>
            <a:r>
              <a:rPr lang="en-US" sz="1350" dirty="0" smtClean="0">
                <a:solidFill>
                  <a:srgbClr val="5A646E"/>
                </a:solidFill>
                <a:latin typeface="Calibri"/>
              </a:rPr>
              <a:t> and</a:t>
            </a:r>
            <a:r>
              <a:rPr sz="1350" b="0" i="0" dirty="0" smtClean="0">
                <a:solidFill>
                  <a:srgbClr val="5A646E"/>
                </a:solidFill>
                <a:latin typeface="Calibri"/>
              </a:rPr>
              <a:t> buffering</a:t>
            </a:r>
            <a:r>
              <a:rPr lang="en-US" sz="1350" b="0" i="0" dirty="0" smtClean="0">
                <a:solidFill>
                  <a:srgbClr val="5A646E"/>
                </a:solidFill>
                <a:latin typeface="Calibri"/>
              </a:rPr>
              <a:t> are largely just a metric of how long someone watched</a:t>
            </a:r>
            <a:r>
              <a:rPr sz="1350" b="0" i="0" dirty="0" smtClean="0">
                <a:solidFill>
                  <a:srgbClr val="5A646E"/>
                </a:solidFill>
                <a:latin typeface="Calibri"/>
              </a:rPr>
              <a:t>.</a:t>
            </a:r>
            <a:endParaRPr sz="135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18098" y="3794760"/>
            <a:ext cx="4434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 dirty="0">
                <a:solidFill>
                  <a:srgbClr val="5A646E"/>
                </a:solidFill>
                <a:latin typeface="Calibri"/>
              </a:rPr>
              <a:t>A 71-minute session has thirteen times the opportunity to contain any event that a 5.5-minute one does.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8098" y="475488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181C"/>
                </a:solidFill>
                <a:latin typeface="Calibri"/>
              </a:rPr>
              <a:t>Normalise by session length. Always.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3057" y="5522976"/>
            <a:ext cx="10820095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8817" y="5522976"/>
            <a:ext cx="990569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1" dirty="0">
                <a:latin typeface="Calibri"/>
              </a:rPr>
              <a:t>Also ruled out: </a:t>
            </a:r>
            <a:r>
              <a:rPr sz="1600" b="1" i="1" dirty="0" smtClean="0">
                <a:latin typeface="Calibri"/>
              </a:rPr>
              <a:t>seeking</a:t>
            </a:r>
            <a:r>
              <a:rPr lang="en-US" sz="1600" b="1" i="1" dirty="0" smtClean="0">
                <a:latin typeface="Calibri"/>
              </a:rPr>
              <a:t> (</a:t>
            </a:r>
            <a:r>
              <a:rPr lang="en-US" sz="1600" b="1" i="1" dirty="0" err="1" smtClean="0">
                <a:latin typeface="Calibri"/>
              </a:rPr>
              <a:t>fastforward</a:t>
            </a:r>
            <a:r>
              <a:rPr lang="en-US" sz="1600" b="1" i="1" dirty="0" smtClean="0">
                <a:latin typeface="Calibri"/>
              </a:rPr>
              <a:t> or rewinding)</a:t>
            </a:r>
            <a:r>
              <a:rPr sz="1600" b="1" i="1" dirty="0" smtClean="0">
                <a:latin typeface="Calibri"/>
              </a:rPr>
              <a:t> </a:t>
            </a:r>
            <a:r>
              <a:rPr sz="1600" b="1" i="1" dirty="0">
                <a:latin typeface="Calibri"/>
              </a:rPr>
              <a:t>is unobservable — </a:t>
            </a:r>
            <a:r>
              <a:rPr sz="1600" b="1" i="1" dirty="0" err="1">
                <a:latin typeface="Calibri"/>
              </a:rPr>
              <a:t>playhead</a:t>
            </a:r>
            <a:r>
              <a:rPr sz="1600" b="1" i="1" dirty="0">
                <a:latin typeface="Calibri"/>
              </a:rPr>
              <a:t> tracks the wall clock in all </a:t>
            </a:r>
            <a:r>
              <a:rPr sz="1600" b="1" i="1" dirty="0" smtClean="0">
                <a:latin typeface="Calibri"/>
              </a:rPr>
              <a:t>185</a:t>
            </a:r>
            <a:r>
              <a:rPr lang="en-US" sz="1600" b="1" i="1" dirty="0">
                <a:latin typeface="Calibri"/>
              </a:rPr>
              <a:t>k</a:t>
            </a:r>
            <a:r>
              <a:rPr sz="1600" b="1" i="1" dirty="0" smtClean="0">
                <a:latin typeface="Calibri"/>
              </a:rPr>
              <a:t> </a:t>
            </a:r>
            <a:r>
              <a:rPr sz="1600" b="1" i="1" dirty="0">
                <a:latin typeface="Calibri"/>
              </a:rPr>
              <a:t>heartbeat intervals, zero divergences</a:t>
            </a:r>
            <a:r>
              <a:rPr sz="1600" b="1" i="1" dirty="0" smtClean="0">
                <a:latin typeface="Calibri"/>
              </a:rPr>
              <a:t>.</a:t>
            </a:r>
            <a:r>
              <a:rPr lang="en-US" sz="1600" b="1" i="1" dirty="0" smtClean="0">
                <a:latin typeface="Calibri"/>
              </a:rPr>
              <a:t> No seek event</a:t>
            </a:r>
            <a:endParaRPr sz="1600" b="1" i="1" dirty="0"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800" b="1" i="0" dirty="0" smtClean="0">
                <a:solidFill>
                  <a:srgbClr val="14181C"/>
                </a:solidFill>
                <a:latin typeface="Cambria"/>
              </a:rPr>
              <a:t>Who is an engaged viewer?</a:t>
            </a:r>
            <a:endParaRPr sz="3800" b="1" i="0" dirty="0">
              <a:solidFill>
                <a:srgbClr val="14181C"/>
              </a:solidFill>
              <a:latin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965960"/>
            <a:ext cx="1081735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8854" y="2026788"/>
            <a:ext cx="10487183" cy="127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300" b="0" i="1" dirty="0">
                <a:solidFill>
                  <a:srgbClr val="146B78"/>
                </a:solidFill>
                <a:latin typeface="Cambria"/>
              </a:rPr>
              <a:t>“</a:t>
            </a:r>
            <a:r>
              <a:rPr sz="2300" b="0" i="1" dirty="0" smtClean="0">
                <a:solidFill>
                  <a:srgbClr val="146B78"/>
                </a:solidFill>
                <a:latin typeface="Cambria"/>
              </a:rPr>
              <a:t>A</a:t>
            </a:r>
            <a:r>
              <a:rPr lang="en-US" sz="2300" b="0" i="1" dirty="0" smtClean="0">
                <a:solidFill>
                  <a:srgbClr val="146B78"/>
                </a:solidFill>
                <a:latin typeface="Cambria"/>
              </a:rPr>
              <a:t>n engaged session is a</a:t>
            </a:r>
            <a:r>
              <a:rPr sz="2300" b="0" i="1" dirty="0" smtClean="0">
                <a:solidFill>
                  <a:srgbClr val="146B78"/>
                </a:solidFill>
                <a:latin typeface="Cambria"/>
              </a:rPr>
              <a:t> </a:t>
            </a:r>
            <a:r>
              <a:rPr sz="2300" b="0" i="1" dirty="0">
                <a:solidFill>
                  <a:srgbClr val="146B78"/>
                </a:solidFill>
                <a:latin typeface="Cambria"/>
              </a:rPr>
              <a:t>session in which the viewer watched at least 30% of the </a:t>
            </a:r>
            <a:r>
              <a:rPr sz="2300" b="0" i="1" dirty="0" smtClean="0">
                <a:solidFill>
                  <a:srgbClr val="146B78"/>
                </a:solidFill>
                <a:latin typeface="Cambria"/>
              </a:rPr>
              <a:t>runtime</a:t>
            </a:r>
            <a:r>
              <a:rPr lang="en-US" sz="2300" b="0" i="1" dirty="0" smtClean="0">
                <a:solidFill>
                  <a:srgbClr val="146B78"/>
                </a:solidFill>
                <a:latin typeface="Cambria"/>
              </a:rPr>
              <a:t> of an asset in the past 3 months. A user with an engaged session is an engaged user.</a:t>
            </a:r>
            <a:r>
              <a:rPr sz="2300" b="0" i="1" dirty="0" smtClean="0">
                <a:solidFill>
                  <a:srgbClr val="146B78"/>
                </a:solidFill>
                <a:latin typeface="Cambria"/>
              </a:rPr>
              <a:t>”</a:t>
            </a:r>
            <a:endParaRPr sz="2300" b="0" i="1" dirty="0">
              <a:solidFill>
                <a:srgbClr val="146B78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46B78"/>
                </a:solidFill>
                <a:latin typeface="Cambria"/>
              </a:rPr>
              <a:t>1,826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9087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engaged views
of 5,739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3977639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4400" b="1" i="0" dirty="0" smtClean="0">
                <a:solidFill>
                  <a:srgbClr val="146B78"/>
                </a:solidFill>
                <a:latin typeface="Cambria"/>
              </a:rPr>
              <a:t>830</a:t>
            </a:r>
            <a:endParaRPr sz="4400" b="1" i="0" dirty="0">
              <a:solidFill>
                <a:srgbClr val="146B78"/>
              </a:solidFill>
              <a:latin typeface="Cambr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29000" y="4690872"/>
            <a:ext cx="2377440" cy="892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 dirty="0">
                <a:solidFill>
                  <a:srgbClr val="5A646E"/>
                </a:solidFill>
                <a:latin typeface="Calibri"/>
              </a:rPr>
              <a:t>engaged users
of </a:t>
            </a:r>
            <a:r>
              <a:rPr lang="en-US" sz="1200" b="0" i="0" dirty="0" smtClean="0">
                <a:solidFill>
                  <a:srgbClr val="5A646E"/>
                </a:solidFill>
                <a:latin typeface="Calibri"/>
              </a:rPr>
              <a:t>2,090</a:t>
            </a:r>
            <a:r>
              <a:rPr sz="1200" b="0" i="0" dirty="0" smtClean="0">
                <a:solidFill>
                  <a:srgbClr val="5A646E"/>
                </a:solidFill>
                <a:latin typeface="Calibri"/>
              </a:rPr>
              <a:t> accounts</a:t>
            </a:r>
            <a:r>
              <a:rPr lang="en-US" sz="1200" b="0" i="0" dirty="0" smtClean="0">
                <a:solidFill>
                  <a:srgbClr val="5A646E"/>
                </a:solidFill>
                <a:latin typeface="Calibri"/>
              </a:rPr>
              <a:t> with </a:t>
            </a:r>
            <a:br>
              <a:rPr lang="en-US" sz="1200" b="0" i="0" dirty="0" smtClean="0">
                <a:solidFill>
                  <a:srgbClr val="5A646E"/>
                </a:solidFill>
                <a:latin typeface="Calibri"/>
              </a:rPr>
            </a:br>
            <a:r>
              <a:rPr lang="en-US" sz="1200" b="0" i="0" dirty="0" smtClean="0">
                <a:solidFill>
                  <a:srgbClr val="5A646E"/>
                </a:solidFill>
                <a:latin typeface="Calibri"/>
              </a:rPr>
              <a:t>an event in the last 3 months </a:t>
            </a:r>
          </a:p>
          <a:p>
            <a:pPr algn="l">
              <a:spcAft>
                <a:spcPts val="600"/>
              </a:spcAft>
            </a:pPr>
            <a:r>
              <a:rPr lang="en-US" sz="1200" b="0" i="0" dirty="0" smtClean="0">
                <a:solidFill>
                  <a:srgbClr val="5A646E"/>
                </a:solidFill>
                <a:latin typeface="Calibri"/>
              </a:rPr>
              <a:t>8,000 total accounts</a:t>
            </a:r>
            <a:endParaRPr sz="12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89320" y="4036847"/>
            <a:ext cx="2743200" cy="1308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600" b="1" i="0" dirty="0" smtClean="0">
                <a:solidFill>
                  <a:srgbClr val="146B78"/>
                </a:solidFill>
                <a:latin typeface="Cambria"/>
              </a:rPr>
              <a:t>40</a:t>
            </a:r>
            <a:r>
              <a:rPr sz="3600" b="1" i="0" dirty="0" smtClean="0">
                <a:solidFill>
                  <a:srgbClr val="146B78"/>
                </a:solidFill>
                <a:latin typeface="Cambria"/>
              </a:rPr>
              <a:t>%</a:t>
            </a:r>
            <a:r>
              <a:rPr lang="en-US" sz="3600" b="1" i="0" dirty="0" smtClean="0">
                <a:solidFill>
                  <a:srgbClr val="146B78"/>
                </a:solidFill>
                <a:latin typeface="Cambria"/>
              </a:rPr>
              <a:t>/10%</a:t>
            </a:r>
          </a:p>
          <a:p>
            <a:pPr algn="l">
              <a:spcAft>
                <a:spcPts val="600"/>
              </a:spcAft>
            </a:pPr>
            <a:endParaRPr sz="4400" b="1" i="0" dirty="0">
              <a:solidFill>
                <a:srgbClr val="146B78"/>
              </a:solidFill>
              <a:latin typeface="Cambri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89320" y="4597529"/>
            <a:ext cx="237744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A646E"/>
                </a:solidFill>
              </a:rPr>
              <a:t>Active in three month time period/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A646E"/>
                </a:solidFill>
              </a:rPr>
              <a:t> All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977639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4400" b="1" i="0" dirty="0" smtClean="0">
                <a:solidFill>
                  <a:srgbClr val="9E2B2B"/>
                </a:solidFill>
                <a:latin typeface="Cambria"/>
              </a:rPr>
              <a:t>No</a:t>
            </a:r>
            <a:endParaRPr sz="4400" b="1" i="0" dirty="0">
              <a:solidFill>
                <a:srgbClr val="9E2B2B"/>
              </a:solidFill>
              <a:latin typeface="Cambr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15400" y="469087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 dirty="0">
                <a:solidFill>
                  <a:srgbClr val="5A646E"/>
                </a:solidFill>
                <a:latin typeface="Calibri"/>
              </a:rPr>
              <a:t>relationship with
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7" y="1143000"/>
            <a:ext cx="1082009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i="0" dirty="0">
                <a:solidFill>
                  <a:srgbClr val="14181C"/>
                </a:solidFill>
                <a:latin typeface="Cambria"/>
              </a:rPr>
              <a:t>An engaged </a:t>
            </a:r>
            <a:r>
              <a:rPr b="1" i="0" dirty="0" smtClean="0">
                <a:solidFill>
                  <a:srgbClr val="14181C"/>
                </a:solidFill>
                <a:latin typeface="Cambria"/>
              </a:rPr>
              <a:t>view</a:t>
            </a:r>
            <a:r>
              <a:rPr lang="en-US" b="1" i="0" dirty="0" smtClean="0">
                <a:solidFill>
                  <a:srgbClr val="14181C"/>
                </a:solidFill>
                <a:latin typeface="Cambria"/>
              </a:rPr>
              <a:t>er</a:t>
            </a:r>
            <a:r>
              <a:rPr b="1" i="0" dirty="0" smtClean="0">
                <a:solidFill>
                  <a:srgbClr val="14181C"/>
                </a:solidFill>
                <a:latin typeface="Cambria"/>
              </a:rPr>
              <a:t> </a:t>
            </a:r>
            <a:r>
              <a:rPr b="1" i="0" dirty="0">
                <a:solidFill>
                  <a:srgbClr val="14181C"/>
                </a:solidFill>
                <a:latin typeface="Cambria"/>
              </a:rPr>
              <a:t>is </a:t>
            </a:r>
            <a:r>
              <a:rPr lang="en-US" b="1" i="0" dirty="0" smtClean="0">
                <a:solidFill>
                  <a:srgbClr val="14181C"/>
                </a:solidFill>
                <a:latin typeface="Cambria"/>
              </a:rPr>
              <a:t> someone who has watched at least </a:t>
            </a:r>
            <a:r>
              <a:rPr b="1" i="0" dirty="0" smtClean="0">
                <a:solidFill>
                  <a:srgbClr val="14181C"/>
                </a:solidFill>
                <a:latin typeface="Cambria"/>
              </a:rPr>
              <a:t>30</a:t>
            </a:r>
            <a:r>
              <a:rPr b="1" i="0" dirty="0">
                <a:solidFill>
                  <a:srgbClr val="14181C"/>
                </a:solidFill>
                <a:latin typeface="Cambria"/>
              </a:rPr>
              <a:t>% of </a:t>
            </a:r>
            <a:r>
              <a:rPr lang="en-US" b="1" i="0" dirty="0" smtClean="0">
                <a:solidFill>
                  <a:srgbClr val="14181C"/>
                </a:solidFill>
                <a:latin typeface="Cambria"/>
              </a:rPr>
              <a:t>an</a:t>
            </a:r>
            <a:r>
              <a:rPr b="1" i="0" dirty="0" smtClean="0">
                <a:solidFill>
                  <a:srgbClr val="14181C"/>
                </a:solidFill>
                <a:latin typeface="Cambria"/>
              </a:rPr>
              <a:t> asset</a:t>
            </a:r>
            <a:endParaRPr b="1" i="0" dirty="0">
              <a:solidFill>
                <a:srgbClr val="14181C"/>
              </a:solidFill>
              <a:latin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CHALLENGE 2 · THE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4181C"/>
                </a:solidFill>
                <a:latin typeface="Cambria"/>
              </a:rPr>
              <a:t>The distribution picks the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16736"/>
            <a:ext cx="97228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46E"/>
                </a:solidFill>
                <a:latin typeface="Calibri"/>
              </a:rPr>
              <a:t>Session completion, heartbeat positions only, 0.05 bins. Three clusters, two empty gaps.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2514600"/>
          <a:ext cx="75895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8595360" y="2514600"/>
            <a:ext cx="2907792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2743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THREE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312724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181C"/>
                </a:solidFill>
                <a:latin typeface="Calibri"/>
              </a:rPr>
              <a:t>Abandoned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374136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46E"/>
                </a:solidFill>
                <a:latin typeface="Calibri"/>
              </a:rPr>
              <a:t>0.021 – 0.050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312724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5A646E"/>
                </a:solidFill>
                <a:latin typeface="Calibri"/>
              </a:rPr>
              <a:t>2,153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785615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181C"/>
                </a:solidFill>
                <a:latin typeface="Calibri"/>
              </a:rPr>
              <a:t>Sampled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03250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46E"/>
                </a:solidFill>
                <a:latin typeface="Calibri"/>
              </a:rPr>
              <a:t>0.172 – 0.200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785615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5A646E"/>
                </a:solidFill>
                <a:latin typeface="Calibri"/>
              </a:rPr>
              <a:t>1,760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443983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181C"/>
                </a:solidFill>
                <a:latin typeface="Calibri"/>
              </a:rPr>
              <a:t>Engaged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690871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46E"/>
                </a:solidFill>
                <a:latin typeface="Calibri"/>
              </a:rPr>
              <a:t>0.478 – 0.995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4443983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350" b="0" i="0">
                <a:solidFill>
                  <a:srgbClr val="5A646E"/>
                </a:solidFill>
                <a:latin typeface="Calibri"/>
              </a:rPr>
              <a:t>1,826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230368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A646E"/>
                </a:solidFill>
                <a:latin typeface="Calibri"/>
              </a:rPr>
              <a:t>The gap 0.200–0.478 is 0.28 wide and completely empty. It is more than twice the width of the first gap.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4EA9B4"/>
                </a:solidFill>
                <a:latin typeface="Calibri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Engagement does not predict retention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16736"/>
            <a:ext cx="97228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8A949E"/>
                </a:solidFill>
                <a:latin typeface="Calibri"/>
              </a:rPr>
              <a:t>Churn rate from paid, by engagement level. Users holding both playback and a subscription.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2697480"/>
          <a:ext cx="67665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9560" y="2743200"/>
            <a:ext cx="42519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Users who never watched a single second churn less than users we classify as engaged.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00" b="0">
                <a:solidFill>
                  <a:srgbClr val="8A949E"/>
                </a:solidFill>
                <a:latin typeface="Calibri"/>
              </a:rPr>
              <a:t>Spread across all four groups is under 3 points, and non-monotonic.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This is a finding, not a failure. </a:t>
            </a:r>
            <a:r>
              <a:rPr sz="1400" b="0">
                <a:solidFill>
                  <a:srgbClr val="8A949E"/>
                </a:solidFill>
                <a:latin typeface="Calibri"/>
              </a:rPr>
              <a:t>The likeliest explanation is that the generator drew viewership and subscriptions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 dirty="0">
                <a:solidFill>
                  <a:srgbClr val="146B78"/>
                </a:solidFill>
                <a:latin typeface="Calibri"/>
              </a:rPr>
              <a:t>CHALLENGE 3 ·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4181C"/>
                </a:solidFill>
                <a:latin typeface="Cambria"/>
              </a:rPr>
              <a:t>Ownership falls out of 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16736"/>
            <a:ext cx="97228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46E"/>
                </a:solidFill>
                <a:latin typeface="Calibri"/>
              </a:rPr>
              <a:t>Would this model change if Product’s definition of engagement changed?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97480"/>
            <a:ext cx="2560320" cy="1783080"/>
          </a:xfrm>
          <a:prstGeom prst="rect">
            <a:avLst/>
          </a:prstGeom>
          <a:solidFill>
            <a:srgbClr val="F5F7F8"/>
          </a:solidFill>
          <a:ln w="12700">
            <a:solidFill>
              <a:srgbClr val="D9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5A646E"/>
                </a:solidFill>
                <a:latin typeface="Calibri"/>
              </a:rPr>
              <a:t>RAW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181C"/>
                </a:solidFill>
                <a:latin typeface="Calibri"/>
              </a:rPr>
              <a:t>4 CSV extracts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landed all-VARCHAR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4015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8A949E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697480"/>
            <a:ext cx="2560320" cy="1783080"/>
          </a:xfrm>
          <a:prstGeom prst="rect">
            <a:avLst/>
          </a:prstGeom>
          <a:solidFill>
            <a:srgbClr val="E2F0F1"/>
          </a:solidFill>
          <a:ln w="12700">
            <a:solidFill>
              <a:srgbClr val="14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88036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146B78"/>
                </a:solidFill>
                <a:latin typeface="Calibri"/>
              </a:rPr>
              <a:t>CLEANED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004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181C"/>
                </a:solidFill>
                <a:latin typeface="Calibri"/>
              </a:rPr>
              <a:t>staging · 4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61188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types, encodings, categoricals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4015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8A949E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697480"/>
            <a:ext cx="2560320" cy="1783080"/>
          </a:xfrm>
          <a:prstGeom prst="rect">
            <a:avLst/>
          </a:prstGeom>
          <a:solidFill>
            <a:srgbClr val="E2F0F1"/>
          </a:solidFill>
          <a:ln w="12700">
            <a:solidFill>
              <a:srgbClr val="14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146B78"/>
                </a:solidFill>
                <a:latin typeface="Calibri"/>
              </a:rPr>
              <a:t>STANDARDISED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181C"/>
                </a:solidFill>
                <a:latin typeface="Calibri"/>
              </a:rPr>
              <a:t>marts/data · 5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facts about the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4015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8A949E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59" y="2697480"/>
            <a:ext cx="2560320" cy="1783080"/>
          </a:xfrm>
          <a:prstGeom prst="rect">
            <a:avLst/>
          </a:prstGeom>
          <a:solidFill>
            <a:srgbClr val="F7EAE0"/>
          </a:solidFill>
          <a:ln w="12700">
            <a:solidFill>
              <a:srgbClr val="C46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59" y="2880360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C4621F"/>
                </a:solidFill>
                <a:latin typeface="Calibri"/>
              </a:rPr>
              <a:t>CURATED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32004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14181C"/>
                </a:solidFill>
                <a:latin typeface="Calibri"/>
              </a:rPr>
              <a:t>marts/product · 2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611880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A646E"/>
                </a:solidFill>
                <a:latin typeface="Calibri"/>
              </a:rPr>
              <a:t>the Product team’s definition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617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4621F"/>
                </a:solidFill>
                <a:latin typeface="Calibri"/>
              </a:rPr>
              <a:t>↑ ownership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46B78"/>
                </a:solidFill>
                <a:latin typeface="Calibri"/>
              </a:rPr>
              <a:t>Data team owns and governs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074920"/>
            <a:ext cx="10817352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2852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14181C"/>
                </a:solidFill>
                <a:latin typeface="Cambria"/>
              </a:rPr>
              <a:t>A ratio is a measurement. A threshold is an opinion.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7058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 err="1">
                <a:solidFill>
                  <a:srgbClr val="5A646E"/>
                </a:solidFill>
                <a:latin typeface="Calibri"/>
              </a:rPr>
              <a:t>completion_pct</a:t>
            </a:r>
            <a:r>
              <a:rPr sz="1300" b="0" i="0" dirty="0">
                <a:solidFill>
                  <a:srgbClr val="5A646E"/>
                </a:solidFill>
                <a:latin typeface="Calibri"/>
              </a:rPr>
              <a:t> is Data-owned. </a:t>
            </a:r>
            <a:r>
              <a:rPr sz="1300" b="0" i="0" dirty="0" err="1">
                <a:solidFill>
                  <a:srgbClr val="5A646E"/>
                </a:solidFill>
                <a:latin typeface="Calibri"/>
              </a:rPr>
              <a:t>is_engaged_view</a:t>
            </a:r>
            <a:r>
              <a:rPr sz="1300" b="0" i="0" dirty="0">
                <a:solidFill>
                  <a:srgbClr val="5A646E"/>
                </a:solidFill>
                <a:latin typeface="Calibri"/>
              </a:rPr>
              <a:t> is Product-owned. The Product team’s entire opinion surface is one model and one declared variable.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50" b="1" i="0" dirty="0">
                <a:solidFill>
                  <a:srgbClr val="146B78"/>
                </a:solidFill>
                <a:latin typeface="Calibri"/>
              </a:rPr>
              <a:t>CHALLENGE </a:t>
            </a:r>
            <a:r>
              <a:rPr lang="en-US" sz="1050" b="1" i="0" dirty="0" smtClean="0">
                <a:solidFill>
                  <a:srgbClr val="146B78"/>
                </a:solidFill>
                <a:latin typeface="Calibri"/>
              </a:rPr>
              <a:t>3</a:t>
            </a:r>
            <a:r>
              <a:rPr sz="1050" b="1" i="0" dirty="0" smtClean="0">
                <a:solidFill>
                  <a:srgbClr val="146B78"/>
                </a:solidFill>
                <a:latin typeface="Calibri"/>
              </a:rPr>
              <a:t> </a:t>
            </a:r>
            <a:r>
              <a:rPr sz="1050" b="1" i="0" dirty="0">
                <a:solidFill>
                  <a:srgbClr val="146B78"/>
                </a:solidFill>
                <a:latin typeface="Calibri"/>
              </a:rPr>
              <a:t>· </a:t>
            </a:r>
            <a:r>
              <a:rPr lang="en-US" sz="1050" b="1" dirty="0" smtClean="0">
                <a:solidFill>
                  <a:srgbClr val="146B78"/>
                </a:solidFill>
              </a:rPr>
              <a:t>ARCHITECT OWNERSHIP</a:t>
            </a:r>
            <a:endParaRPr sz="1050" b="1" i="0" dirty="0">
              <a:solidFill>
                <a:srgbClr val="146B78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800" b="1" i="0" dirty="0" smtClean="0">
                <a:solidFill>
                  <a:srgbClr val="14181C"/>
                </a:solidFill>
                <a:latin typeface="Cambria"/>
              </a:rPr>
              <a:t>Eleven</a:t>
            </a:r>
            <a:r>
              <a:rPr sz="3800" b="1" i="0" dirty="0" smtClean="0">
                <a:solidFill>
                  <a:srgbClr val="14181C"/>
                </a:solidFill>
                <a:latin typeface="Cambria"/>
              </a:rPr>
              <a:t> </a:t>
            </a:r>
            <a:r>
              <a:rPr sz="3800" b="1" i="0" dirty="0">
                <a:solidFill>
                  <a:srgbClr val="14181C"/>
                </a:solidFill>
                <a:latin typeface="Cambria"/>
              </a:rPr>
              <a:t>models, grain </a:t>
            </a:r>
            <a:r>
              <a:rPr lang="en-US" sz="3800" b="1" i="0" dirty="0" smtClean="0">
                <a:solidFill>
                  <a:srgbClr val="14181C"/>
                </a:solidFill>
                <a:latin typeface="Cambria"/>
              </a:rPr>
              <a:t>highlighted</a:t>
            </a:r>
            <a:endParaRPr sz="3800" b="1" i="0" dirty="0">
              <a:solidFill>
                <a:srgbClr val="14181C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316736"/>
            <a:ext cx="97228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5A646E"/>
                </a:solidFill>
                <a:latin typeface="Calibri"/>
              </a:rPr>
              <a:t>The seven mart models below; four staging models sit behind them. The fact is at user grain, because the question is about people.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722376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27980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8A949E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79806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8A949E"/>
                </a:solidFill>
                <a:latin typeface="Calibri"/>
              </a:rPr>
              <a:t>ONE ROW 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79806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 i="0">
                <a:solidFill>
                  <a:srgbClr val="8A949E"/>
                </a:solidFill>
                <a:latin typeface="Calibri"/>
              </a:rP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18211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4621F"/>
                </a:solidFill>
                <a:latin typeface="Calibri"/>
              </a:rPr>
              <a:t>fct_user_engagement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18211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registered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1821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14181C"/>
                </a:solidFill>
                <a:latin typeface="Calibri"/>
              </a:rPr>
              <a:t>8,000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5844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4621F"/>
                </a:solidFill>
                <a:latin typeface="Calibri"/>
              </a:rPr>
              <a:t>fct_session_engagement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5844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viewing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58444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14181C"/>
                </a:solidFill>
                <a:latin typeface="Calibri"/>
              </a:rPr>
              <a:t>5,739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98678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46B78"/>
                </a:solidFill>
                <a:latin typeface="Calibri"/>
              </a:rPr>
              <a:t>fct_session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98678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viewing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98678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14181C"/>
                </a:solidFill>
                <a:latin typeface="Calibri"/>
              </a:rPr>
              <a:t>5,739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3891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46B78"/>
                </a:solidFill>
                <a:latin typeface="Calibri"/>
              </a:rPr>
              <a:t>dim_user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3891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registered 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38912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14181C"/>
                </a:solidFill>
                <a:latin typeface="Calibri"/>
              </a:rPr>
              <a:t>8,000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79145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46B78"/>
                </a:solidFill>
                <a:latin typeface="Calibri"/>
              </a:rPr>
              <a:t>dim_asset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79145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asset_id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79145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14181C"/>
                </a:solidFill>
                <a:latin typeface="Calibri"/>
              </a:rPr>
              <a:t>850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51937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46B78"/>
                </a:solidFill>
                <a:latin typeface="Calibri"/>
              </a:rPr>
              <a:t>dim_subscription_history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19379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subscription state, valid-from/to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519379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14181C"/>
                </a:solidFill>
                <a:latin typeface="Calibri"/>
              </a:rPr>
              <a:t>7,896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5961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46B78"/>
                </a:solidFill>
                <a:latin typeface="Calibri"/>
              </a:rPr>
              <a:t>fct_user_paid_spells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5961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continuous paying period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55961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14181C"/>
                </a:solidFill>
                <a:latin typeface="Calibri"/>
              </a:rPr>
              <a:t>3,197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606040"/>
            <a:ext cx="3749039" cy="18064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 dirty="0">
                <a:solidFill>
                  <a:srgbClr val="14181C"/>
                </a:solidFill>
                <a:latin typeface="Calibri"/>
              </a:rPr>
              <a:t>Why user grain? </a:t>
            </a:r>
            <a:r>
              <a:rPr sz="1250" b="0" dirty="0">
                <a:solidFill>
                  <a:srgbClr val="5A646E"/>
                </a:solidFill>
                <a:latin typeface="Calibri"/>
              </a:rPr>
              <a:t>A session-grain fact weights heavy viewers by how often they showed up, and quietly answers a different question.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 dirty="0">
                <a:solidFill>
                  <a:srgbClr val="14181C"/>
                </a:solidFill>
                <a:latin typeface="Calibri"/>
              </a:rPr>
              <a:t>Concurrent subscriptions are real </a:t>
            </a:r>
            <a:r>
              <a:rPr sz="1250" b="0" dirty="0">
                <a:solidFill>
                  <a:srgbClr val="5A646E"/>
                </a:solidFill>
                <a:latin typeface="Calibri"/>
              </a:rPr>
              <a:t>— 319 overlapping pairs across 268 users. Cancelling one of two looks like churn but is not, so paid windows are merged: 4,277 into 3,197 spells</a:t>
            </a:r>
            <a:r>
              <a:rPr sz="1250" b="0" dirty="0" smtClean="0">
                <a:solidFill>
                  <a:srgbClr val="5A646E"/>
                </a:solidFill>
                <a:latin typeface="Calibri"/>
              </a:rPr>
              <a:t>.</a:t>
            </a:r>
            <a:endParaRPr sz="1250" b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6263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46B78"/>
                </a:solidFill>
                <a:latin typeface="Calibri"/>
              </a:rPr>
              <a:t>■  Data team owns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6263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C4621F"/>
                </a:solidFill>
                <a:latin typeface="Calibri"/>
              </a:rPr>
              <a:t>■  Product team owns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650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954512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8A949E"/>
                </a:solidFill>
                <a:latin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348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WHAT I’D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4181C"/>
                </a:solidFill>
                <a:latin typeface="Cambria"/>
              </a:rPr>
              <a:t>Where I stopped,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534924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146B78"/>
                </a:solidFill>
                <a:latin typeface="Calibri"/>
              </a:rPr>
              <a:t>TO FINISH THE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4617720" cy="20646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 dirty="0">
                <a:solidFill>
                  <a:srgbClr val="14181C"/>
                </a:solidFill>
                <a:latin typeface="Calibri"/>
              </a:rPr>
              <a:t>Run the time-ordered test. </a:t>
            </a:r>
            <a:r>
              <a:rPr sz="1250" b="0" dirty="0">
                <a:solidFill>
                  <a:srgbClr val="5A646E"/>
                </a:solidFill>
                <a:latin typeface="Calibri"/>
              </a:rPr>
              <a:t>My retention test does not verify engagement preceded churn. The proper shape is a cohort — engagement in window W against retention at W+30.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 dirty="0" smtClean="0">
                <a:solidFill>
                  <a:srgbClr val="14181C"/>
                </a:solidFill>
                <a:latin typeface="Calibri"/>
              </a:rPr>
              <a:t>Confirm </a:t>
            </a:r>
            <a:r>
              <a:rPr lang="en-US" sz="1250" b="1" dirty="0" smtClean="0">
                <a:solidFill>
                  <a:srgbClr val="14181C"/>
                </a:solidFill>
                <a:latin typeface="Calibri"/>
              </a:rPr>
              <a:t>four</a:t>
            </a:r>
            <a:r>
              <a:rPr sz="1250" b="1" dirty="0" smtClean="0">
                <a:solidFill>
                  <a:srgbClr val="14181C"/>
                </a:solidFill>
                <a:latin typeface="Calibri"/>
              </a:rPr>
              <a:t> </a:t>
            </a:r>
            <a:r>
              <a:rPr sz="1250" b="1" dirty="0">
                <a:solidFill>
                  <a:srgbClr val="14181C"/>
                </a:solidFill>
                <a:latin typeface="Calibri"/>
              </a:rPr>
              <a:t>assumptions with the source teams. </a:t>
            </a:r>
            <a:r>
              <a:rPr lang="en-US" sz="1250" b="1" dirty="0">
                <a:solidFill>
                  <a:srgbClr val="14181C"/>
                </a:solidFill>
                <a:latin typeface="Calibri"/>
              </a:rPr>
              <a:t/>
            </a:r>
            <a:br>
              <a:rPr lang="en-US" sz="1250" b="1" dirty="0">
                <a:solidFill>
                  <a:srgbClr val="14181C"/>
                </a:solidFill>
                <a:latin typeface="Calibri"/>
              </a:rPr>
            </a:br>
            <a:r>
              <a:rPr lang="en-US" sz="1250" b="0" dirty="0" smtClean="0">
                <a:solidFill>
                  <a:srgbClr val="5A646E"/>
                </a:solidFill>
                <a:latin typeface="Calibri"/>
              </a:rPr>
              <a:t>Are </a:t>
            </a:r>
            <a:r>
              <a:rPr lang="en-US" sz="1250" b="0" dirty="0" err="1" smtClean="0">
                <a:solidFill>
                  <a:srgbClr val="5A646E"/>
                </a:solidFill>
                <a:latin typeface="Calibri"/>
              </a:rPr>
              <a:t>Ti</a:t>
            </a:r>
            <a:r>
              <a:rPr sz="1250" b="0" dirty="0" err="1" smtClean="0">
                <a:solidFill>
                  <a:srgbClr val="5A646E"/>
                </a:solidFill>
                <a:latin typeface="Calibri"/>
              </a:rPr>
              <a:t>mezone</a:t>
            </a:r>
            <a:r>
              <a:rPr sz="1250" b="0" dirty="0" smtClean="0">
                <a:solidFill>
                  <a:srgbClr val="5A646E"/>
                </a:solidFill>
                <a:latin typeface="Calibri"/>
              </a:rPr>
              <a:t>-less </a:t>
            </a:r>
            <a:r>
              <a:rPr sz="1250" b="0" dirty="0">
                <a:solidFill>
                  <a:srgbClr val="5A646E"/>
                </a:solidFill>
                <a:latin typeface="Calibri"/>
              </a:rPr>
              <a:t>timestamps </a:t>
            </a:r>
            <a:r>
              <a:rPr sz="1250" b="0" dirty="0" smtClean="0">
                <a:solidFill>
                  <a:srgbClr val="5A646E"/>
                </a:solidFill>
                <a:latin typeface="Calibri"/>
              </a:rPr>
              <a:t>UTC?</a:t>
            </a:r>
            <a:r>
              <a:rPr lang="en-US" sz="1250" b="0" dirty="0" smtClean="0">
                <a:solidFill>
                  <a:srgbClr val="5A646E"/>
                </a:solidFill>
                <a:latin typeface="Calibri"/>
              </a:rPr>
              <a:t/>
            </a:r>
            <a:br>
              <a:rPr lang="en-US" sz="1250" b="0" dirty="0" smtClean="0">
                <a:solidFill>
                  <a:srgbClr val="5A646E"/>
                </a:solidFill>
                <a:latin typeface="Calibri"/>
              </a:rPr>
            </a:br>
            <a:r>
              <a:rPr lang="en-US" sz="1250" b="0" dirty="0" smtClean="0">
                <a:solidFill>
                  <a:srgbClr val="5A646E"/>
                </a:solidFill>
                <a:latin typeface="Calibri"/>
              </a:rPr>
              <a:t>Expired </a:t>
            </a:r>
            <a:r>
              <a:rPr sz="1250" b="0" dirty="0" smtClean="0">
                <a:solidFill>
                  <a:srgbClr val="5A646E"/>
                </a:solidFill>
                <a:latin typeface="Calibri"/>
              </a:rPr>
              <a:t>versus cancele</a:t>
            </a:r>
            <a:r>
              <a:rPr lang="en-US" sz="1250" dirty="0" smtClean="0">
                <a:solidFill>
                  <a:srgbClr val="5A646E"/>
                </a:solidFill>
                <a:latin typeface="Calibri"/>
              </a:rPr>
              <a:t>d, involuntary and voluntary?</a:t>
            </a:r>
            <a:r>
              <a:rPr lang="en-US" sz="1250" dirty="0">
                <a:solidFill>
                  <a:srgbClr val="5A646E"/>
                </a:solidFill>
                <a:latin typeface="Calibri"/>
              </a:rPr>
              <a:t/>
            </a:r>
            <a:br>
              <a:rPr lang="en-US" sz="1250" dirty="0">
                <a:solidFill>
                  <a:srgbClr val="5A646E"/>
                </a:solidFill>
                <a:latin typeface="Calibri"/>
              </a:rPr>
            </a:br>
            <a:r>
              <a:rPr lang="en-US" sz="1250" dirty="0" smtClean="0">
                <a:solidFill>
                  <a:srgbClr val="5A646E"/>
                </a:solidFill>
                <a:latin typeface="Calibri"/>
              </a:rPr>
              <a:t>Backwards Sub Status Transitions, win-backs?</a:t>
            </a:r>
            <a:br>
              <a:rPr lang="en-US" sz="1250" dirty="0" smtClean="0">
                <a:solidFill>
                  <a:srgbClr val="5A646E"/>
                </a:solidFill>
                <a:latin typeface="Calibri"/>
              </a:rPr>
            </a:br>
            <a:r>
              <a:rPr lang="en-US" sz="1250" dirty="0" smtClean="0">
                <a:solidFill>
                  <a:srgbClr val="5A646E"/>
                </a:solidFill>
                <a:latin typeface="Calibri"/>
              </a:rPr>
              <a:t>FX Rates, who owns them &amp; approach</a:t>
            </a:r>
            <a:endParaRPr sz="1250" b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5080" y="2468880"/>
            <a:ext cx="5148072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26974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C4621F"/>
                </a:solidFill>
                <a:latin typeface="Calibri"/>
              </a:rPr>
              <a:t>TO MAKE IT USEFUL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063240"/>
            <a:ext cx="4434840" cy="1583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lang="en-US" sz="1250" b="1" dirty="0" smtClean="0">
                <a:solidFill>
                  <a:srgbClr val="14181C"/>
                </a:solidFill>
                <a:latin typeface="Calibri"/>
              </a:rPr>
              <a:t>Investigate the middle </a:t>
            </a:r>
            <a:r>
              <a:rPr sz="1250" b="1" dirty="0" smtClean="0">
                <a:solidFill>
                  <a:srgbClr val="14181C"/>
                </a:solidFill>
                <a:latin typeface="Calibri"/>
              </a:rPr>
              <a:t>tier</a:t>
            </a:r>
            <a:r>
              <a:rPr lang="en-US" sz="1250" b="1" dirty="0" smtClean="0">
                <a:solidFill>
                  <a:srgbClr val="14181C"/>
                </a:solidFill>
                <a:latin typeface="Calibri"/>
              </a:rPr>
              <a:t> for growth.</a:t>
            </a:r>
            <a:r>
              <a:rPr sz="1250" b="1" dirty="0" smtClean="0">
                <a:solidFill>
                  <a:srgbClr val="14181C"/>
                </a:solidFill>
                <a:latin typeface="Calibri"/>
              </a:rPr>
              <a:t> </a:t>
            </a:r>
            <a:r>
              <a:rPr sz="1250" b="0" dirty="0" smtClean="0">
                <a:solidFill>
                  <a:srgbClr val="5A646E"/>
                </a:solidFill>
                <a:latin typeface="Calibri"/>
              </a:rPr>
              <a:t>1,760 sessions watched 17–20% and stopped — people who engaged enough to form a judgement and left. Caveat: the tiers show no retention signal here.</a:t>
            </a:r>
            <a:endParaRPr lang="en-US" sz="1250" b="0" dirty="0" smtClean="0">
              <a:solidFill>
                <a:srgbClr val="5A646E"/>
              </a:solidFill>
              <a:latin typeface="Calibri"/>
            </a:endParaRP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lang="en-US" sz="1250" b="1" dirty="0" smtClean="0">
                <a:solidFill>
                  <a:srgbClr val="14181C"/>
                </a:solidFill>
              </a:rPr>
              <a:t>Add additional analytic events, investigate odd data </a:t>
            </a:r>
            <a:br>
              <a:rPr lang="en-US" sz="1250" b="1" dirty="0" smtClean="0">
                <a:solidFill>
                  <a:srgbClr val="14181C"/>
                </a:solidFill>
              </a:rPr>
            </a:br>
            <a:r>
              <a:rPr lang="en-US" sz="1250" dirty="0" smtClean="0">
                <a:solidFill>
                  <a:srgbClr val="14181C"/>
                </a:solidFill>
              </a:rPr>
              <a:t>Add seek </a:t>
            </a:r>
            <a:r>
              <a:rPr lang="en-US" sz="1250" dirty="0" err="1" smtClean="0">
                <a:solidFill>
                  <a:srgbClr val="14181C"/>
                </a:solidFill>
              </a:rPr>
              <a:t>analytic</a:t>
            </a:r>
            <a:r>
              <a:rPr lang="en-US" sz="1250" dirty="0" smtClean="0">
                <a:solidFill>
                  <a:srgbClr val="14181C"/>
                </a:solidFill>
              </a:rPr>
              <a:t>, look at pause not pausing, and sort out orphaned foreign keys and other data issues at the source</a:t>
            </a:r>
            <a:endParaRPr lang="en-US" sz="1250" dirty="0">
              <a:solidFill>
                <a:srgbClr val="5A646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089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4EA9B4"/>
                </a:solidFill>
                <a:latin typeface="Calibri"/>
              </a:rPr>
              <a:t>HOW I WORKED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20095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800" b="1" i="0" dirty="0" smtClean="0">
                <a:solidFill>
                  <a:srgbClr val="FFFFFF"/>
                </a:solidFill>
                <a:latin typeface="Cambria"/>
              </a:rPr>
              <a:t>How I used AI</a:t>
            </a:r>
            <a:endParaRPr sz="38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88863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i="0" dirty="0" smtClean="0">
                <a:solidFill>
                  <a:srgbClr val="4EA9B4"/>
                </a:solidFill>
                <a:latin typeface="Calibri"/>
              </a:rPr>
              <a:t>Claude Usage</a:t>
            </a:r>
            <a:endParaRPr sz="1100" b="1" i="0" dirty="0">
              <a:solidFill>
                <a:srgbClr val="4EA9B4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512" y="1605530"/>
            <a:ext cx="3401568" cy="29751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Profiled </a:t>
            </a:r>
            <a:r>
              <a:rPr lang="en-US" sz="1200" dirty="0">
                <a:solidFill>
                  <a:srgbClr val="8A949E"/>
                </a:solidFill>
              </a:rPr>
              <a:t>and explored the </a:t>
            </a:r>
            <a:r>
              <a:rPr lang="en-US" sz="1200" dirty="0" smtClean="0">
                <a:solidFill>
                  <a:srgbClr val="8A949E"/>
                </a:solidFill>
              </a:rPr>
              <a:t>data</a:t>
            </a:r>
            <a:endParaRPr lang="en-US" sz="1200" dirty="0">
              <a:solidFill>
                <a:srgbClr val="8A949E"/>
              </a:solidFill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8A949E"/>
                </a:solidFill>
              </a:rPr>
              <a:t>Identified data-quality </a:t>
            </a:r>
            <a:r>
              <a:rPr lang="en-US" sz="1200" dirty="0" smtClean="0">
                <a:solidFill>
                  <a:srgbClr val="8A949E"/>
                </a:solidFill>
              </a:rPr>
              <a:t>issues</a:t>
            </a:r>
            <a:endParaRPr lang="en-US" sz="1200" dirty="0">
              <a:solidFill>
                <a:srgbClr val="8A949E"/>
              </a:solidFill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8A949E"/>
                </a:solidFill>
              </a:rPr>
              <a:t>Maintained project documentation and </a:t>
            </a:r>
            <a:r>
              <a:rPr lang="en-US" sz="1200" dirty="0" smtClean="0">
                <a:solidFill>
                  <a:srgbClr val="8A949E"/>
                </a:solidFill>
              </a:rPr>
              <a:t>changelogs</a:t>
            </a:r>
            <a:endParaRPr lang="en-US" sz="1200" dirty="0">
              <a:solidFill>
                <a:srgbClr val="8A949E"/>
              </a:solidFill>
            </a:endParaRP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Wrote </a:t>
            </a:r>
            <a:r>
              <a:rPr lang="en-US" sz="1200" dirty="0">
                <a:solidFill>
                  <a:srgbClr val="8A949E"/>
                </a:solidFill>
              </a:rPr>
              <a:t>SQL and </a:t>
            </a:r>
            <a:r>
              <a:rPr lang="en-US" sz="1200" dirty="0" err="1">
                <a:solidFill>
                  <a:srgbClr val="8A949E"/>
                </a:solidFill>
              </a:rPr>
              <a:t>dbt</a:t>
            </a:r>
            <a:r>
              <a:rPr lang="en-US" sz="1200" dirty="0">
                <a:solidFill>
                  <a:srgbClr val="8A949E"/>
                </a:solidFill>
              </a:rPr>
              <a:t> </a:t>
            </a:r>
            <a:r>
              <a:rPr lang="en-US" sz="1200" dirty="0" smtClean="0">
                <a:solidFill>
                  <a:srgbClr val="8A949E"/>
                </a:solidFill>
              </a:rPr>
              <a:t>models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Tested </a:t>
            </a:r>
            <a:r>
              <a:rPr lang="en-US" sz="1200" dirty="0">
                <a:solidFill>
                  <a:srgbClr val="8A949E"/>
                </a:solidFill>
              </a:rPr>
              <a:t>and validated the </a:t>
            </a:r>
            <a:r>
              <a:rPr lang="en-US" sz="1200" dirty="0" smtClean="0">
                <a:solidFill>
                  <a:srgbClr val="8A949E"/>
                </a:solidFill>
              </a:rPr>
              <a:t>model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Drafted </a:t>
            </a:r>
            <a:r>
              <a:rPr lang="en-US" sz="1200" dirty="0">
                <a:solidFill>
                  <a:srgbClr val="8A949E"/>
                </a:solidFill>
              </a:rPr>
              <a:t>documentation and </a:t>
            </a:r>
            <a:r>
              <a:rPr lang="en-US" sz="1200" dirty="0" smtClean="0">
                <a:solidFill>
                  <a:srgbClr val="8A949E"/>
                </a:solidFill>
              </a:rPr>
              <a:t>diagrams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Generated </a:t>
            </a:r>
            <a:r>
              <a:rPr lang="en-US" sz="1200" dirty="0">
                <a:solidFill>
                  <a:srgbClr val="8A949E"/>
                </a:solidFill>
              </a:rPr>
              <a:t>options and tradeoffs for </a:t>
            </a:r>
            <a:r>
              <a:rPr lang="en-US" sz="1200" dirty="0" smtClean="0">
                <a:solidFill>
                  <a:srgbClr val="8A949E"/>
                </a:solidFill>
              </a:rPr>
              <a:t>decisions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Used </a:t>
            </a:r>
            <a:r>
              <a:rPr lang="en-US" sz="1200" dirty="0">
                <a:solidFill>
                  <a:srgbClr val="8A949E"/>
                </a:solidFill>
              </a:rPr>
              <a:t>AI for construction, while keeping final decisions </a:t>
            </a:r>
            <a:r>
              <a:rPr lang="en-US" sz="1200" dirty="0" smtClean="0">
                <a:solidFill>
                  <a:srgbClr val="8A949E"/>
                </a:solidFill>
              </a:rPr>
              <a:t>human-led</a:t>
            </a:r>
            <a:endParaRPr sz="1200" b="0" dirty="0">
              <a:solidFill>
                <a:srgbClr val="8A949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61688" y="1288863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i="0" dirty="0" smtClean="0">
                <a:solidFill>
                  <a:srgbClr val="92D050"/>
                </a:solidFill>
                <a:latin typeface="Calibri"/>
              </a:rPr>
              <a:t>How Claude Worked</a:t>
            </a:r>
            <a:endParaRPr sz="1100" b="1" i="0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61688" y="1570077"/>
            <a:ext cx="3401568" cy="1667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8A949E"/>
                </a:solidFill>
              </a:rPr>
              <a:t>Strict change-control &amp; </a:t>
            </a:r>
            <a:r>
              <a:rPr lang="en-US" sz="1200" dirty="0" smtClean="0">
                <a:solidFill>
                  <a:srgbClr val="8A949E"/>
                </a:solidFill>
              </a:rPr>
              <a:t>approval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Structured</a:t>
            </a:r>
            <a:r>
              <a:rPr lang="en-US" sz="1200" dirty="0">
                <a:solidFill>
                  <a:srgbClr val="8A949E"/>
                </a:solidFill>
              </a:rPr>
              <a:t>, versioned </a:t>
            </a:r>
            <a:r>
              <a:rPr lang="en-US" sz="1200" dirty="0" smtClean="0">
                <a:solidFill>
                  <a:srgbClr val="8A949E"/>
                </a:solidFill>
              </a:rPr>
              <a:t>documentation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Automated data profiling &amp; quality checks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Validation of AI-generated code and outputs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Human-in-the-loop analytical decision making</a:t>
            </a:r>
            <a:endParaRPr sz="1200" b="0" dirty="0">
              <a:solidFill>
                <a:srgbClr val="8A949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37575" y="1288863"/>
            <a:ext cx="3383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Calibri"/>
              </a:rPr>
              <a:t>Practical Decisions</a:t>
            </a:r>
            <a:endParaRPr sz="1100" b="1" i="0" dirty="0">
              <a:solidFill>
                <a:schemeClr val="accent6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55864" y="1570077"/>
            <a:ext cx="3401568" cy="1872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8A949E"/>
                </a:solidFill>
              </a:rPr>
              <a:t>Used Claude Desktop, not Command </a:t>
            </a:r>
            <a:r>
              <a:rPr lang="en-US" sz="1200" dirty="0" smtClean="0">
                <a:solidFill>
                  <a:srgbClr val="8A949E"/>
                </a:solidFill>
              </a:rPr>
              <a:t>Line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Agents</a:t>
            </a:r>
            <a:r>
              <a:rPr lang="en-US" sz="1200" dirty="0">
                <a:solidFill>
                  <a:srgbClr val="8A949E"/>
                </a:solidFill>
              </a:rPr>
              <a:t>, that Claude </a:t>
            </a:r>
            <a:r>
              <a:rPr lang="en-US" sz="1200" dirty="0" smtClean="0">
                <a:solidFill>
                  <a:srgbClr val="8A949E"/>
                </a:solidFill>
              </a:rPr>
              <a:t>manages, </a:t>
            </a:r>
            <a:r>
              <a:rPr lang="en-US" sz="1200" dirty="0">
                <a:solidFill>
                  <a:srgbClr val="8A949E"/>
                </a:solidFill>
              </a:rPr>
              <a:t>were not </a:t>
            </a:r>
            <a:r>
              <a:rPr lang="en-US" sz="1200" dirty="0" smtClean="0">
                <a:solidFill>
                  <a:srgbClr val="8A949E"/>
                </a:solidFill>
              </a:rPr>
              <a:t>used due to token usage risks. </a:t>
            </a:r>
            <a:r>
              <a:rPr lang="en-US" sz="1200" dirty="0">
                <a:solidFill>
                  <a:srgbClr val="8A949E"/>
                </a:solidFill>
              </a:rPr>
              <a:t>I used Claude desktop to have multiple agents I control work on the code or wiki </a:t>
            </a:r>
            <a:r>
              <a:rPr lang="en-US" sz="1200" dirty="0" smtClean="0">
                <a:solidFill>
                  <a:srgbClr val="8A949E"/>
                </a:solidFill>
              </a:rPr>
              <a:t>simultaneously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lang="en-US" sz="1200" dirty="0" smtClean="0">
                <a:solidFill>
                  <a:srgbClr val="8A949E"/>
                </a:solidFill>
              </a:rPr>
              <a:t>Used </a:t>
            </a:r>
            <a:r>
              <a:rPr lang="en-US" sz="1200" dirty="0" err="1" smtClean="0">
                <a:solidFill>
                  <a:srgbClr val="8A949E"/>
                </a:solidFill>
              </a:rPr>
              <a:t>Pycharm</a:t>
            </a:r>
            <a:r>
              <a:rPr lang="en-US" sz="1200" dirty="0" smtClean="0">
                <a:solidFill>
                  <a:srgbClr val="8A949E"/>
                </a:solidFill>
              </a:rPr>
              <a:t> as it auto updates files, no saved vs unsaved version</a:t>
            </a:r>
            <a:endParaRPr lang="en-US" sz="1200" dirty="0">
              <a:solidFill>
                <a:srgbClr val="8A949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Every design decision here is mine — the definition, the grain, the SCD treatment, the ownership boundary. Construction was delegated; judgement was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8A949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1679</Words>
  <Application>Microsoft Office PowerPoint</Application>
  <PresentationFormat>Widescreen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Alex Paluch</cp:lastModifiedBy>
  <cp:revision>14</cp:revision>
  <dcterms:created xsi:type="dcterms:W3CDTF">2013-01-27T09:14:16Z</dcterms:created>
  <dcterms:modified xsi:type="dcterms:W3CDTF">2026-08-20T07:09:18Z</dcterms:modified>
  <cp:category/>
</cp:coreProperties>
</file>